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725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2137"/>
                </a:solidFill>
                <a:latin typeface="Arial"/>
              </a:rPr>
              <a:t>Cost vs. Approach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Inspection Cost Reduction (%)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D3-476A-A3DC-DA72C73A5078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D3-476A-A3DC-DA72C73A5078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D3-476A-A3DC-DA72C73A50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Manual Only</c:v>
                </c:pt>
                <c:pt idx="1">
                  <c:v>Partial Sensor</c:v>
                </c:pt>
                <c:pt idx="2">
                  <c:v>TrackGuard AI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62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D3-476A-A3DC-DA72C73A50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2F-472E-87DA-D250F787DD6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52F-472E-87DA-D250F787DD6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52F-472E-87DA-D250F787DD67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2F-472E-87DA-D250F787DD6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52F-472E-87DA-D250F787DD6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52F-472E-87DA-D250F787DD6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Innovation &amp;</c:v>
                </c:pt>
                <c:pt idx="1">
                  <c:v>Engineering Quality</c:v>
                </c:pt>
                <c:pt idx="2">
                  <c:v>Real-World Impact</c:v>
                </c:pt>
                <c:pt idx="3">
                  <c:v>Scalability</c:v>
                </c:pt>
                <c:pt idx="4">
                  <c:v>Design &amp;</c:v>
                </c:pt>
                <c:pt idx="5">
                  <c:v>Execution Quality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52F-472E-87DA-D250F787D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80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109728" cy="7543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4389120"/>
            <a:ext cx="8942832" cy="7543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4074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</a:rPr>
              <a:t>FAR AWAY 2026  •  RAILWAYS THEME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TrackGuard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Railway Safety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  •  Railways Theme  •  Team: [Your Team Name]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— Why Railway Safety Needs a Revolution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railway network spans </a:t>
            </a: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68,000+ km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track — yet manual inspection is slow, error-prone and costly.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2011680" cy="3429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716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554480"/>
            <a:ext cx="2011680" cy="1645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89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Track Defects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773936"/>
            <a:ext cx="1783080" cy="2953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fractures missed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expansion ignored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 failures undetected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response: 72hrs+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2304" y="1371600"/>
            <a:ext cx="2011680" cy="3429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3716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2304" y="1554480"/>
            <a:ext cx="2011680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389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Passenger Safety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9464" y="1773936"/>
            <a:ext cx="1783080" cy="2953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hazard alerts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stops delayed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crowd density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at stations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1371600"/>
            <a:ext cx="2011680" cy="3429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3716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08576" y="1554480"/>
            <a:ext cx="2011680" cy="1645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1389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Manual Inspection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1773936"/>
            <a:ext cx="1783080" cy="2953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2–3 km/hr speed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limitations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fatigue errors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cost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84848" y="1371600"/>
            <a:ext cx="2011680" cy="3429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3716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6784848" y="1554480"/>
            <a:ext cx="2011680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894576" y="13898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Amenity Gaps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1773936"/>
            <a:ext cx="1783080" cy="2953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water supply mapping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washroom status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counter queues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TrackGuard AI: 3-Layer Safety Ecosystem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platform replacing manual inspection with AI, robotics, and citizen reporting.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Safety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hazard reporting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station amenity map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crowd alerts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ticket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261872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9272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Track Robot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19272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3D track scanning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Caterpillar autonomous nav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2D→3D point cloud fusion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261872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8B451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27064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27064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Sensor Network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27064" y="230428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 trip-wire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feedback loops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triggers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Citizen Safety App (Web + Mobile PWA)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595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Station 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8595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of every platform, ticket counter, washroom, water point &amp; waiting area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642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AI Hazard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6642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upload → on-device AI classifies hazard type and routes to maintenance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688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Amenity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live status of water, toilets, food stalls — updated every 15 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36976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2735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Emergency Alert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2735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for track closures, delays, emergency evacuations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782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(Staff)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40782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 portal: heat-maps, open tickets, SLA tracking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52160" y="82296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896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1298448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PWA + Leaflet.js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(Python)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 + PostGIS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YOLOv8 hazard classifier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Maps: OpenStreetMap / OSRM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+ OTP (Railway ID)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AWS EC2 + S3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 Firebase FCM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Your Actual Robot: Dual-Mode 3D Scanning Mobile Robot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LiDAR (linear 0° + conical 30°) · Jetson Nano GPU · Caterpillar tracked chassis · PROVEN: 1.84M point cloud @ 145s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61872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426464"/>
            <a:ext cx="420624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Main CPU/GPU NVIDIA Jetson Nano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Quad-core ARM + 128-core Maxwell GPU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SLAM, 3D reconstruction, AI fault 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261872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261872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304" y="1426464"/>
            <a:ext cx="420624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80160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LiDAR RPLiDAR A2 (Dual-Mode)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627632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0° lock → flat track scan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 tilt conical → full 3D point cloud (.pcd)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523744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523744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" y="2688336"/>
            <a:ext cx="4206240" cy="1645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4203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LiDAR Mount Dual-Angle Pivot Mechanism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889504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360° NEMA-17 servo base (Z-axis)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solenoid/detent locks 0° or 30°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8304" y="2523744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2523744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4718304" y="2688336"/>
            <a:ext cx="4206240" cy="1645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254203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 Binocular Depth (Stereo SLAM)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889504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IR array for depth + proximity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 and visual odometry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78561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785616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0D2137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" y="3950208"/>
            <a:ext cx="4206240" cy="1645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80390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IMU BNO055 9-Axis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151376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+ Gyro + Barometer via I²C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with LiDAR for robust odometry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18304" y="3785616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3785616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0D2137"/>
          </a:solidFill>
          <a:ln/>
        </p:spPr>
      </p:sp>
      <p:sp>
        <p:nvSpPr>
          <p:cNvPr id="32" name="Shape 30"/>
          <p:cNvSpPr/>
          <p:nvPr/>
        </p:nvSpPr>
        <p:spPr>
          <a:xfrm>
            <a:off x="4718304" y="3950208"/>
            <a:ext cx="4206240" cy="1645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380390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Drive Four-Motor + Caterpillar Tracks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151376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actuators per track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extrusion frame, ballast-ready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LiDAR Pipeline — 2D Linear + 3D Conical Fusion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7782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1 — LINEAR (0° Lock)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316736"/>
            <a:ext cx="3895344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tilted to 0° — scans flat plane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exact track geometry cross-section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rail gap, crack, misalignment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traverse mode (robot moving)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2D distance/angle array via CAN Bus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877824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2 — CONICAL (30° Lock)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64608" y="1316736"/>
            <a:ext cx="3895344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tilts 30° + 360° NEMA-17 rotation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rotation = 1 horizontal slice of 3D cone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stacked → full 3D point cloud .pcd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Stopped-robot deep-scan mode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1.84M points proven in 145 seconds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18688"/>
            <a:ext cx="8595360" cy="1572768"/>
          </a:xfrm>
          <a:prstGeom prst="roundRect">
            <a:avLst>
              <a:gd name="adj" fmla="val 5814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2918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 SENSOR FUSION PIPELINE  (CAN Bus Architecture)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(dist/angle)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27048" y="3858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508760" y="4078224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36776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636776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Servo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52344" y="3858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34056" y="4078224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862072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2862072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Binocular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7640" y="3858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959352" y="4078224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087368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087368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12664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312664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9-Axis IMU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BNO055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28232" y="3858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09944" y="4078224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537960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Actuators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53528" y="3858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635240" y="4078224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763256" y="3675888"/>
            <a:ext cx="1097280" cy="804672"/>
          </a:xfrm>
          <a:prstGeom prst="roundRect">
            <a:avLst>
              <a:gd name="adj" fmla="val 7955"/>
            </a:avLst>
          </a:prstGeom>
          <a:solidFill>
            <a:srgbClr val="8B4513"/>
          </a:solidFill>
          <a:ln/>
        </p:spPr>
      </p:sp>
      <p:sp>
        <p:nvSpPr>
          <p:cNvPr id="35" name="Text 33"/>
          <p:cNvSpPr/>
          <p:nvPr/>
        </p:nvSpPr>
        <p:spPr>
          <a:xfrm>
            <a:off x="7763256" y="367588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.pcd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Smart Sensor Network &amp; Emergency Systems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303520" cy="347472"/>
          </a:xfrm>
          <a:prstGeom prst="roundRect">
            <a:avLst>
              <a:gd name="adj" fmla="val 23684"/>
            </a:avLst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5303520" cy="1645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/ Vibration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sensors embedded every 500m along tracks. Detects unusual vibrations — derailment, object on track — and triggers emergency braking signal within 200ms.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53035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5303520" cy="347472"/>
          </a:xfrm>
          <a:prstGeom prst="roundRect">
            <a:avLst>
              <a:gd name="adj" fmla="val 23684"/>
            </a:avLst>
          </a:prstGeom>
          <a:solidFill>
            <a:srgbClr val="0D2137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395728"/>
            <a:ext cx="5303520" cy="1645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311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Feedback Loops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PTZ cameras at junctions &amp; stations stream to edge-AI box running YOLOv8. Detects trespassers, obstacle intrusion, crowd overflow.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530352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5303520" cy="347472"/>
          </a:xfrm>
          <a:prstGeom prst="roundRect">
            <a:avLst>
              <a:gd name="adj" fmla="val 23684"/>
            </a:avLst>
          </a:prstGeom>
          <a:solidFill>
            <a:srgbClr val="0D2137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785616"/>
            <a:ext cx="5303520" cy="1645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6210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Rail Stopper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rail-clamp actuated by sensor network or manual override. Certified fail-safe: power-off defaults to engaged.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82296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0" y="896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298448"/>
            <a:ext cx="27432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 STM32F103C8T6 (Blue Pill)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ADC: ADS1115 16-bit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SX1278 module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AMS1117 3.3V regulator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relay: IRF540N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PCB: 2-layer 5V/3.3V rails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+ Gerbers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EasyEDA for 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System Architecture — Hardware-Accurate Block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actual robot design: Jetson Nano main hub, CAN Bus for LiDAR/servo, I²C for sensors, LoRa for telemetry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434840" cy="361188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434840" cy="347472"/>
          </a:xfrm>
          <a:prstGeom prst="roundRect">
            <a:avLst>
              <a:gd name="adj" fmla="val 31579"/>
            </a:avLst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353312"/>
            <a:ext cx="4434840" cy="1645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AUTONOMOUS ROBOT  (Jetson Nano)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6276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RPLiDAR A2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1627632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627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NEMA-17 Servo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Z-Axis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40864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4086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Binocular Cam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SLAM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2340864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234086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BNO055 IMU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9-Axis Fusion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54096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0D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0540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4-Motor Drive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Caterpillar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3054096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8B4513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0540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.pcd 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1.84M pts/scan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767328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6732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NANO  —  Main CPU/GPU  —  CAN Bus + I²C Hub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1170432"/>
            <a:ext cx="3913632" cy="361188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170432"/>
            <a:ext cx="3913632" cy="347472"/>
          </a:xfrm>
          <a:prstGeom prst="roundRect">
            <a:avLst>
              <a:gd name="adj" fmla="val 31579"/>
            </a:avLst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353312"/>
            <a:ext cx="3913632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118872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+ CITIZEN LAYER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84064" y="1627632"/>
            <a:ext cx="3621024" cy="594360"/>
          </a:xfrm>
          <a:prstGeom prst="roundRect">
            <a:avLst>
              <a:gd name="adj" fmla="val 10769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084064" y="1627632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+ PostgreSQL + PostGIS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84064" y="2304288"/>
            <a:ext cx="3621024" cy="594360"/>
          </a:xfrm>
          <a:prstGeom prst="roundRect">
            <a:avLst>
              <a:gd name="adj" fmla="val 10769"/>
            </a:avLst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5084064" y="2304288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Citizen App (Hazard Report + Map)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84064" y="2980944"/>
            <a:ext cx="3621024" cy="594360"/>
          </a:xfrm>
          <a:prstGeom prst="roundRect">
            <a:avLst>
              <a:gd name="adj" fmla="val 10769"/>
            </a:avLst>
          </a:prstGeom>
          <a:solidFill>
            <a:srgbClr val="0D2137"/>
          </a:solidFill>
          <a:ln/>
        </p:spPr>
      </p:sp>
      <p:sp>
        <p:nvSpPr>
          <p:cNvPr id="32" name="Text 30"/>
          <p:cNvSpPr/>
          <p:nvPr/>
        </p:nvSpPr>
        <p:spPr>
          <a:xfrm>
            <a:off x="5084064" y="298094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Track Fault Classifier (range image)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84064" y="3657600"/>
            <a:ext cx="3621024" cy="594360"/>
          </a:xfrm>
          <a:prstGeom prst="roundRect">
            <a:avLst>
              <a:gd name="adj" fmla="val 10769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5084064" y="3657600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Dashboard + Alert Engine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84064" y="4334256"/>
            <a:ext cx="3621024" cy="438912"/>
          </a:xfrm>
          <a:prstGeom prst="roundRect">
            <a:avLst>
              <a:gd name="adj" fmla="val 14583"/>
            </a:avLst>
          </a:prstGeom>
          <a:solidFill>
            <a:srgbClr val="8B4513"/>
          </a:solidFill>
          <a:ln/>
        </p:spPr>
      </p:sp>
      <p:sp>
        <p:nvSpPr>
          <p:cNvPr id="36" name="Text 34"/>
          <p:cNvSpPr/>
          <p:nvPr/>
        </p:nvSpPr>
        <p:spPr>
          <a:xfrm>
            <a:off x="5084064" y="4334256"/>
            <a:ext cx="3621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Sensor Nodes — LoRa → Gateway →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2980944"/>
            <a:ext cx="20116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690872" y="28346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+WiFi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Structure &amp; Submission Guide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github.com/[yourname]/trackguard-ai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D213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71600"/>
            <a:ext cx="2743200" cy="1645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Repo Folders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251460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 — React PWA frontend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/backend — FastAPI server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/robot — RPi firmware (Python)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/arduino — STM32 sensor code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/pcb — KiCad schematic + Gerbers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/cad — Robot chassis STL files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— Report, diagrams, BOM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/demo — Screenshots, video link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887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B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18688" y="1371600"/>
            <a:ext cx="2743200" cy="16459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Required Files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591056"/>
            <a:ext cx="251460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(full setup guide)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/ package.json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(MIT)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BOM.csv (Bill of Materials)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demo/VIDEO_LINK.txt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docs/circuit_diagram.png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887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63056" y="1371600"/>
            <a:ext cx="2743200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207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FAR AWAY Rules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0216" y="1591056"/>
            <a:ext cx="2514600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GitHub repo with source code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15-slide presentation (this deck)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Problem→Solution→Demo flow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PCB design files (KiCad)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CAD files for robot chassis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Real prototype (encouraged)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Setup instructions in README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Commit history visible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Design &amp; Bill of Materials (BOM)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 PCBs: (1) Sensor Node Board  (2) Robot Controller Hat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8595360" cy="35661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 Cost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4B (4GB)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AI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Mega 2560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+ sensor ctrl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RPLiDAR A2M8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LiDAR scanner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STM32F103C8T6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node MCU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₹120×2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OV5647 Camera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inspection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₹700×2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SX1278 LoRa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Long-range comms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₹350×3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4S LiPo 5000mAh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 Motor 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Caterpillar drive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₹150×2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 Vibration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sensing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₹40×10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 ADC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16-bit sensor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₹180×2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IRF540N MOSFET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Relay/actuator ctrl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₹25×4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(PCB, wire, nuts)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PROTOTYPE COST: ₹ ~23,000  •  Tool: KiCad 6 + EasyEDA  •  Fab: JLCPCB (5 boards ~₹800)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 &amp; Milestones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011680" cy="4023360"/>
          </a:xfrm>
          <a:prstGeom prst="roundRect">
            <a:avLst>
              <a:gd name="adj" fmla="val 4545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778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79222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 MVP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reporting live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map for 3 stations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deployed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32304" y="804672"/>
            <a:ext cx="2011680" cy="402336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23744" y="8778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Months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42032" y="1664208"/>
            <a:ext cx="179222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chassis built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camera integrated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500m track test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model v1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804672"/>
            <a:ext cx="2011680" cy="4023360"/>
          </a:xfrm>
          <a:prstGeom prst="roundRect">
            <a:avLst>
              <a:gd name="adj" fmla="val 4545"/>
            </a:avLst>
          </a:prstGeom>
          <a:solidFill>
            <a:srgbClr val="0D21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8778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 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8304" y="1664208"/>
            <a:ext cx="179222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 nodes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stopper prototype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PCBs fabricated + tested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84848" y="804672"/>
            <a:ext cx="2011680" cy="4023360"/>
          </a:xfrm>
          <a:prstGeom prst="roundRect">
            <a:avLst>
              <a:gd name="adj" fmla="val 4545"/>
            </a:avLst>
          </a:prstGeom>
          <a:solidFill>
            <a:srgbClr val="F59E0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6288" y="8778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Months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94576" y="1664208"/>
            <a:ext cx="179222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1 railway zone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partnership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 divisions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 release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Scale &amp; Market Opportunity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96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68,000+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56032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Indian Railways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9968" y="804672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9968" y="896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1.4B+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29968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per 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03904" y="804672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3904" y="896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₹1,200 Cr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03904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maintenance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804672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896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5778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from track faults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51776" y="804672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51776" y="896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51776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rail safety market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176272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4709160" y="2176272"/>
            <a:ext cx="4114800" cy="2560320"/>
          </a:xfrm>
          <a:prstGeom prst="roundRect">
            <a:avLst>
              <a:gd name="adj" fmla="val 4286"/>
            </a:avLst>
          </a:prstGeom>
          <a:solidFill>
            <a:srgbClr val="0A162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4632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320" y="2688336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Fully autonomous — no human needed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LoRa works without 4G coverage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3-layer redundancy (app + robot + sensor)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10× cheaper than imported rail robots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Made-for-India: fits Indian gauge track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Open-source hardware + software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What Judges Will See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5953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App Demo (Live URL)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85953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deployed on Vercel. Judges can scan QR to open, report a hazard, see it appear on dashboard in real-time.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824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 Simulation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68249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simulation (Pygame / ROS Gazebo) showing autonomous track traversal, LiDAR sweep, and fault detection trigger.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5054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250545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showing open tickets, heat-map of reported hazards, sensor alert log, and analytics.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7355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3284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Sensor Node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33284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STM32 board with piezo sensor — press it to trigger a virtual emergency stop on the dashboard.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9651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1513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Field Video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15137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clip of robot prototype on mock track (PVC pipe rail), LiDAR spinning, fault detection alert firing.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Score on FAR AWAY Judging Criteria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3657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160520" y="841248"/>
            <a:ext cx="4663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270248" y="89611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12080" y="89611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system + LiDAR 3D + on-device AI + LoRa mesh — none of this is off-the-shelf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60520" y="1499616"/>
            <a:ext cx="4663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70248" y="155448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0" y="155448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(KiCad), robot chassis (CAD), real firmware, no breadboard-only prototype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60520" y="2157984"/>
            <a:ext cx="4663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70248" y="221284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12080" y="22128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measurable problem: 83% of rail accidents are track-related — addressable by this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60520" y="2816352"/>
            <a:ext cx="4663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270248" y="287121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287121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+ cloud scales without per-node SIM cost; open-source enables govt. adoption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60520" y="3474720"/>
            <a:ext cx="4663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70248" y="352958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12080" y="352958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citizen app designed for low-tech users; WCAG-compliant; Hindi/English support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60520" y="4133088"/>
            <a:ext cx="4663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270248" y="41879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12080" y="418795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repo, working demo, PCB files, CAD, video, presentation — fully complete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1974" y="-603504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B3A5C">
              <a:alpha val="3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TrackGuard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India's Railways Safer — One Kilometer at a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78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 :https://github.com/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rudrakshapatra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TrackGuard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-Railway-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safety.git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54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Team </a:t>
            </a:r>
            <a:r>
              <a:rPr lang="en-US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pp6489845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2958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Demo Video : youtu.be/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technthink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2026  •  Railways Theme  •  India's Biggest International 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1704</Words>
  <Application>Microsoft Office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TrackGuard AI — FAR AWAY 2026</dc:title>
  <dc:subject>PptxGenJS Presentation</dc:subject>
  <dc:creator>PptxGenJS</dc:creator>
  <cp:lastModifiedBy>Rudraksha Patra</cp:lastModifiedBy>
  <cp:revision>3</cp:revision>
  <dcterms:created xsi:type="dcterms:W3CDTF">2026-06-14T18:06:38Z</dcterms:created>
  <dcterms:modified xsi:type="dcterms:W3CDTF">2026-06-14T18:33:50Z</dcterms:modified>
</cp:coreProperties>
</file>