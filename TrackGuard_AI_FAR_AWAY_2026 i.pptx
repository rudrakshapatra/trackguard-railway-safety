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1.xml" ContentType="application/vnd.openxmlformats-officedocument.drawingml.chart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rts/chart2.xml" ContentType="application/vnd.openxmlformats-officedocument.drawingml.chart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1" r:id="rId12"/>
    <p:sldId id="266" r:id="rId13"/>
    <p:sldId id="267" r:id="rId14"/>
    <p:sldId id="268" r:id="rId15"/>
    <p:sldId id="269" r:id="rId16"/>
    <p:sldId id="270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1003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D2137"/>
                </a:solidFill>
                <a:latin typeface="Arial"/>
              </a:defRPr>
            </a:pPr>
            <a:r>
              <a:rPr lang="en-US" sz="1200" b="0" i="0" u="none" strike="noStrike">
                <a:solidFill>
                  <a:srgbClr val="0D2137"/>
                </a:solidFill>
                <a:latin typeface="Arial"/>
              </a:rPr>
              <a:t>Cost vs. Approach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Inspection Cost Reduction (%)</c:v>
                </c:pt>
              </c:strCache>
            </c:strRef>
          </c:tx>
          <c:spPr>
            <a:solidFill>
              <a:srgbClr val="1B3A5C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84D3-476A-A3DC-DA72C73A5078}"/>
              </c:ext>
            </c:extLst>
          </c:dPt>
          <c:dPt>
            <c:idx val="1"/>
            <c:invertIfNegative val="0"/>
            <c:bubble3D val="0"/>
            <c:spPr>
              <a:solidFill>
                <a:srgbClr val="00A89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84D3-476A-A3DC-DA72C73A5078}"/>
              </c:ext>
            </c:extLst>
          </c:dPt>
          <c:dPt>
            <c:idx val="2"/>
            <c:invertIfNegative val="0"/>
            <c:bubble3D val="0"/>
            <c:spPr>
              <a:solidFill>
                <a:srgbClr val="00A89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84D3-476A-A3DC-DA72C73A5078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Manual Only</c:v>
                </c:pt>
                <c:pt idx="1">
                  <c:v>Partial Sensor</c:v>
                </c:pt>
                <c:pt idx="2">
                  <c:v>TrackGuard AI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</c:v>
                </c:pt>
                <c:pt idx="1">
                  <c:v>62</c:v>
                </c:pt>
                <c:pt idx="2">
                  <c:v>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84D3-476A-A3DC-DA72C73A507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00A896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752F-472E-87DA-D250F787DD67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752F-472E-87DA-D250F787DD67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752F-472E-87DA-D250F787DD67}"/>
              </c:ext>
            </c:extLst>
          </c:dPt>
          <c:dPt>
            <c:idx val="3"/>
            <c:invertIfNegative val="0"/>
            <c:bubble3D val="0"/>
            <c:spPr>
              <a:solidFill>
                <a:srgbClr val="14B8A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752F-472E-87DA-D250F787DD67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9-752F-472E-87DA-D250F787DD67}"/>
              </c:ext>
            </c:extLst>
          </c:dPt>
          <c:dPt>
            <c:idx val="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B-752F-472E-87DA-D250F787DD67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Innovation &amp;</c:v>
                </c:pt>
                <c:pt idx="1">
                  <c:v>Engineering Quality</c:v>
                </c:pt>
                <c:pt idx="2">
                  <c:v>Real-World Impact</c:v>
                </c:pt>
                <c:pt idx="3">
                  <c:v>Scalability</c:v>
                </c:pt>
                <c:pt idx="4">
                  <c:v>Design &amp;</c:v>
                </c:pt>
                <c:pt idx="5">
                  <c:v>Execution Quality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</c:v>
                </c:pt>
                <c:pt idx="1">
                  <c:v>5</c:v>
                </c:pt>
                <c:pt idx="2">
                  <c:v>5</c:v>
                </c:pt>
                <c:pt idx="3">
                  <c:v>4</c:v>
                </c:pt>
                <c:pt idx="4">
                  <c:v>5</c:v>
                </c:pt>
                <c:pt idx="5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752F-472E-87DA-D250F787DD6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18058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-1097280"/>
            <a:ext cx="3657600" cy="3657600"/>
          </a:xfrm>
          <a:prstGeom prst="ellipse">
            <a:avLst/>
          </a:prstGeom>
          <a:solidFill>
            <a:srgbClr val="00A896">
              <a:alpha val="18000"/>
            </a:srgbClr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0" y="-457200"/>
            <a:ext cx="2011680" cy="2011680"/>
          </a:xfrm>
          <a:prstGeom prst="ellipse">
            <a:avLst/>
          </a:prstGeom>
          <a:solidFill>
            <a:srgbClr val="00A896">
              <a:alpha val="30000"/>
            </a:srgbClr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389120"/>
            <a:ext cx="109728" cy="75438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5" name="Shape 3"/>
          <p:cNvSpPr/>
          <p:nvPr/>
        </p:nvSpPr>
        <p:spPr>
          <a:xfrm>
            <a:off x="201168" y="4389120"/>
            <a:ext cx="8942832" cy="75438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4407408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0A896"/>
                </a:solidFill>
              </a:rPr>
              <a:t>FAR AWAY 2026  •  RAILWAYS THEME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188720"/>
            <a:ext cx="8046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TrackGuard AI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Autonomous Railway Safety System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457200" y="283464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AWAY 2026  •  Railways Theme  •  Team</a:t>
            </a:r>
            <a:r>
              <a:rPr lang="en-US" sz="160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TECHNTHINKS</a:t>
            </a:r>
            <a:endParaRPr lang="en-US" sz="16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457200"/>
            <a:ext cx="1645920" cy="1645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 — Why Railway Safety Needs a Revolution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India's railway network spans </a:t>
            </a:r>
            <a:r>
              <a:rPr lang="en-US" sz="15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68,000+ km</a:t>
            </a: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track — yet manual inspection is slow, error-prone and costly.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256032" y="1371600"/>
            <a:ext cx="2011680" cy="34290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56032" y="1371600"/>
            <a:ext cx="2011680" cy="347472"/>
          </a:xfrm>
          <a:prstGeom prst="roundRect">
            <a:avLst>
              <a:gd name="adj" fmla="val 21053"/>
            </a:avLst>
          </a:prstGeom>
          <a:solidFill>
            <a:srgbClr val="1B3A5C"/>
          </a:solidFill>
          <a:ln/>
        </p:spPr>
      </p:sp>
      <p:sp>
        <p:nvSpPr>
          <p:cNvPr id="7" name="Shape 5"/>
          <p:cNvSpPr/>
          <p:nvPr/>
        </p:nvSpPr>
        <p:spPr>
          <a:xfrm>
            <a:off x="256032" y="1554480"/>
            <a:ext cx="2011680" cy="164592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13898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Track Defects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93192" y="1773936"/>
            <a:ext cx="1783080" cy="2953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Rail fractures missed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Thermal expansion ignored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Weld failures undetected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response: 72hrs+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432304" y="1371600"/>
            <a:ext cx="2011680" cy="34290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432304" y="1371600"/>
            <a:ext cx="2011680" cy="347472"/>
          </a:xfrm>
          <a:prstGeom prst="roundRect">
            <a:avLst>
              <a:gd name="adj" fmla="val 21053"/>
            </a:avLst>
          </a:prstGeom>
          <a:solidFill>
            <a:srgbClr val="C0392B"/>
          </a:solidFill>
          <a:ln/>
        </p:spPr>
      </p:sp>
      <p:sp>
        <p:nvSpPr>
          <p:cNvPr id="12" name="Shape 10"/>
          <p:cNvSpPr/>
          <p:nvPr/>
        </p:nvSpPr>
        <p:spPr>
          <a:xfrm>
            <a:off x="2432304" y="1554480"/>
            <a:ext cx="2011680" cy="16459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3" name="Text 11"/>
          <p:cNvSpPr/>
          <p:nvPr/>
        </p:nvSpPr>
        <p:spPr>
          <a:xfrm>
            <a:off x="2542032" y="13898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🚨 Passenger Safety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569464" y="1773936"/>
            <a:ext cx="1783080" cy="2953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real-time hazard alerts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stops delayed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crowd density data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 spots at stations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08576" y="1371600"/>
            <a:ext cx="2011680" cy="34290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08576" y="1371600"/>
            <a:ext cx="2011680" cy="347472"/>
          </a:xfrm>
          <a:prstGeom prst="roundRect">
            <a:avLst>
              <a:gd name="adj" fmla="val 21053"/>
            </a:avLst>
          </a:prstGeom>
          <a:solidFill>
            <a:srgbClr val="1B3A5C"/>
          </a:solidFill>
          <a:ln/>
        </p:spPr>
      </p:sp>
      <p:sp>
        <p:nvSpPr>
          <p:cNvPr id="17" name="Shape 15"/>
          <p:cNvSpPr/>
          <p:nvPr/>
        </p:nvSpPr>
        <p:spPr>
          <a:xfrm>
            <a:off x="4608576" y="1554480"/>
            <a:ext cx="2011680" cy="164592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8" name="Text 16"/>
          <p:cNvSpPr/>
          <p:nvPr/>
        </p:nvSpPr>
        <p:spPr>
          <a:xfrm>
            <a:off x="4718304" y="13898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Manual Inspection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745736" y="1773936"/>
            <a:ext cx="1783080" cy="2953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2–3 km/hr speed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 limitations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fatigue errors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operational cost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784848" y="1371600"/>
            <a:ext cx="2011680" cy="34290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784848" y="1371600"/>
            <a:ext cx="2011680" cy="347472"/>
          </a:xfrm>
          <a:prstGeom prst="roundRect">
            <a:avLst>
              <a:gd name="adj" fmla="val 21053"/>
            </a:avLst>
          </a:prstGeom>
          <a:solidFill>
            <a:srgbClr val="C0392B"/>
          </a:solidFill>
          <a:ln/>
        </p:spPr>
      </p:sp>
      <p:sp>
        <p:nvSpPr>
          <p:cNvPr id="22" name="Shape 20"/>
          <p:cNvSpPr/>
          <p:nvPr/>
        </p:nvSpPr>
        <p:spPr>
          <a:xfrm>
            <a:off x="6784848" y="1554480"/>
            <a:ext cx="2011680" cy="16459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3" name="Text 21"/>
          <p:cNvSpPr/>
          <p:nvPr/>
        </p:nvSpPr>
        <p:spPr>
          <a:xfrm>
            <a:off x="6894576" y="13898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💧 Amenity Gaps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922008" y="1773936"/>
            <a:ext cx="1783080" cy="2953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water supply mapping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Untracked washroom status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counter queues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digital reporting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 — TrackGuard AI: 3-Layer Safety Ecosystem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integrated platform replacing manual inspection with AI, robotics, and citizen reporting.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74320" y="1261872"/>
            <a:ext cx="2743200" cy="3566160"/>
          </a:xfrm>
          <a:prstGeom prst="roundRect">
            <a:avLst>
              <a:gd name="adj" fmla="val 4000"/>
            </a:avLst>
          </a:prstGeom>
          <a:solidFill>
            <a:srgbClr val="00A896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11480" y="135331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11480" y="1700784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Citizen Safety App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11480" y="2304288"/>
            <a:ext cx="24688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hazard reporting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station amenity map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crowd alerts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ticket system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182112" y="1261872"/>
            <a:ext cx="2743200" cy="3566160"/>
          </a:xfrm>
          <a:prstGeom prst="roundRect">
            <a:avLst>
              <a:gd name="adj" fmla="val 4000"/>
            </a:avLst>
          </a:prstGeom>
          <a:solidFill>
            <a:srgbClr val="1B3A5C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319272" y="135331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319272" y="1700784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Autonomous Track Robot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319272" y="2304288"/>
            <a:ext cx="24688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LiDAR 3D track scanning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Caterpillar autonomous nav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2D→3D point cloud fusion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maintenance AI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89904" y="1261872"/>
            <a:ext cx="2743200" cy="3566160"/>
          </a:xfrm>
          <a:prstGeom prst="roundRect">
            <a:avLst>
              <a:gd name="adj" fmla="val 4000"/>
            </a:avLst>
          </a:prstGeom>
          <a:solidFill>
            <a:srgbClr val="8B4513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227064" y="135331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227064" y="1700784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Sensor Network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227064" y="2304288"/>
            <a:ext cx="24688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Pressure sensor trip-wire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feedback loops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stop triggers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telemetry dashboard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Layer 1 — Citizen Safety App (Web + Mobile PWA)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5394960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11480" y="859536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🗺️  Station Map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011680" y="859536"/>
            <a:ext cx="3520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map of every platform, ticket counter, washroom, water point &amp; waiting area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74320" y="1627632"/>
            <a:ext cx="5394960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11480" y="1664208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📸  AI Hazard Report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011680" y="1664208"/>
            <a:ext cx="3520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Photo/video upload → on-device AI classifies hazard type and routes to maintenance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74320" y="2432304"/>
            <a:ext cx="5394960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11480" y="2468880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💧  Amenity Status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011680" y="2468880"/>
            <a:ext cx="3520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Crowd-sourced live status of water, toilets, food stalls — updated every 15 min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74320" y="3236976"/>
            <a:ext cx="5394960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11480" y="3273552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 Emergency Alert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011680" y="3273552"/>
            <a:ext cx="3520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alerts for track closures, delays, emergency evacuations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74320" y="4041648"/>
            <a:ext cx="5394960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11480" y="4078224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Dashboard (Staff)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011680" y="4078224"/>
            <a:ext cx="3520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team portal: heat-maps, open tickets, SLA tracking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852160" y="822960"/>
            <a:ext cx="2971800" cy="3977640"/>
          </a:xfrm>
          <a:prstGeom prst="roundRect">
            <a:avLst>
              <a:gd name="adj" fmla="val 3692"/>
            </a:avLst>
          </a:prstGeom>
          <a:solidFill>
            <a:srgbClr val="0A1628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989320" y="89611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989320" y="1298448"/>
            <a:ext cx="274320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Frontend: React PWA + Leaflet.js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Backend: FastAPI (Python)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Database: PostgreSQL + PostGIS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AI: YOLOv8 hazard classifier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Maps: OpenStreetMap / OSRM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Auth: JWT + OTP (Railway ID)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Hosting: AWS EC2 + S3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Notifications: Firebase FCM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Layer 2 — Your Actual Robot: Dual-Mode 3D Scanning Mobile Robot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274320" y="749808"/>
            <a:ext cx="8595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Dual-mode LiDAR (linear 0° + conical 30°) · Jetson Nano GPU · Caterpillar tracked chassis · PROVEN: 1.84M point cloud @ 145s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256032" y="1261872"/>
            <a:ext cx="42062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56032" y="1261872"/>
            <a:ext cx="4206240" cy="329184"/>
          </a:xfrm>
          <a:prstGeom prst="roundRect">
            <a:avLst>
              <a:gd name="adj" fmla="val 22222"/>
            </a:avLst>
          </a:prstGeom>
          <a:solidFill>
            <a:srgbClr val="00A896"/>
          </a:solidFill>
          <a:ln/>
        </p:spPr>
      </p:sp>
      <p:sp>
        <p:nvSpPr>
          <p:cNvPr id="7" name="Shape 5"/>
          <p:cNvSpPr/>
          <p:nvPr/>
        </p:nvSpPr>
        <p:spPr>
          <a:xfrm>
            <a:off x="256032" y="1426464"/>
            <a:ext cx="4206240" cy="164592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1280160"/>
            <a:ext cx="3986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Main CPU/GPU NVIDIA Jetson Nano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1627632"/>
            <a:ext cx="398678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Quad-core ARM + 128-core Maxwell GPU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SLAM, 3D reconstruction, AI fault detection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18304" y="1261872"/>
            <a:ext cx="42062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18304" y="1261872"/>
            <a:ext cx="4206240" cy="329184"/>
          </a:xfrm>
          <a:prstGeom prst="roundRect">
            <a:avLst>
              <a:gd name="adj" fmla="val 22222"/>
            </a:avLst>
          </a:prstGeom>
          <a:solidFill>
            <a:srgbClr val="00A896"/>
          </a:solidFill>
          <a:ln/>
        </p:spPr>
      </p:sp>
      <p:sp>
        <p:nvSpPr>
          <p:cNvPr id="12" name="Shape 10"/>
          <p:cNvSpPr/>
          <p:nvPr/>
        </p:nvSpPr>
        <p:spPr>
          <a:xfrm>
            <a:off x="4718304" y="1426464"/>
            <a:ext cx="4206240" cy="164592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3" name="Text 11"/>
          <p:cNvSpPr/>
          <p:nvPr/>
        </p:nvSpPr>
        <p:spPr>
          <a:xfrm>
            <a:off x="4828032" y="1280160"/>
            <a:ext cx="3986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📡 LiDAR RPLiDAR A2 (Dual-Mode)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28032" y="1627632"/>
            <a:ext cx="398678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0° lock → flat track scan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30° tilt conical → full 3D point cloud (.pcd)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56032" y="2523744"/>
            <a:ext cx="42062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56032" y="2523744"/>
            <a:ext cx="4206240" cy="329184"/>
          </a:xfrm>
          <a:prstGeom prst="roundRect">
            <a:avLst>
              <a:gd name="adj" fmla="val 22222"/>
            </a:avLst>
          </a:prstGeom>
          <a:solidFill>
            <a:srgbClr val="1B3A5C"/>
          </a:solidFill>
          <a:ln/>
        </p:spPr>
      </p:sp>
      <p:sp>
        <p:nvSpPr>
          <p:cNvPr id="17" name="Shape 15"/>
          <p:cNvSpPr/>
          <p:nvPr/>
        </p:nvSpPr>
        <p:spPr>
          <a:xfrm>
            <a:off x="256032" y="2688336"/>
            <a:ext cx="4206240" cy="164592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2542032"/>
            <a:ext cx="3986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LiDAR Mount Dual-Angle Pivot Mechanism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65760" y="2889504"/>
            <a:ext cx="398678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High-precision 360° NEMA-17 servo base (Z-axis)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Mechanical solenoid/detent locks 0° or 30°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718304" y="2523744"/>
            <a:ext cx="42062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18304" y="2523744"/>
            <a:ext cx="4206240" cy="329184"/>
          </a:xfrm>
          <a:prstGeom prst="roundRect">
            <a:avLst>
              <a:gd name="adj" fmla="val 22222"/>
            </a:avLst>
          </a:prstGeom>
          <a:solidFill>
            <a:srgbClr val="1B3A5C"/>
          </a:solidFill>
          <a:ln/>
        </p:spPr>
      </p:sp>
      <p:sp>
        <p:nvSpPr>
          <p:cNvPr id="22" name="Shape 20"/>
          <p:cNvSpPr/>
          <p:nvPr/>
        </p:nvSpPr>
        <p:spPr>
          <a:xfrm>
            <a:off x="4718304" y="2688336"/>
            <a:ext cx="4206240" cy="164592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3" name="Text 21"/>
          <p:cNvSpPr/>
          <p:nvPr/>
        </p:nvSpPr>
        <p:spPr>
          <a:xfrm>
            <a:off x="4828032" y="2542032"/>
            <a:ext cx="3986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📷 Camera Binocular Depth (Stereo SLAM)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28032" y="2889504"/>
            <a:ext cx="398678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Stereo IR array for depth + proximity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 closure and visual odometry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6032" y="3785616"/>
            <a:ext cx="42062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256032" y="3785616"/>
            <a:ext cx="4206240" cy="329184"/>
          </a:xfrm>
          <a:prstGeom prst="roundRect">
            <a:avLst>
              <a:gd name="adj" fmla="val 22222"/>
            </a:avLst>
          </a:prstGeom>
          <a:solidFill>
            <a:srgbClr val="0D2137"/>
          </a:solidFill>
          <a:ln/>
        </p:spPr>
      </p:sp>
      <p:sp>
        <p:nvSpPr>
          <p:cNvPr id="27" name="Shape 25"/>
          <p:cNvSpPr/>
          <p:nvPr/>
        </p:nvSpPr>
        <p:spPr>
          <a:xfrm>
            <a:off x="256032" y="3950208"/>
            <a:ext cx="4206240" cy="164592"/>
          </a:xfrm>
          <a:prstGeom prst="rect">
            <a:avLst/>
          </a:prstGeom>
          <a:solidFill>
            <a:srgbClr val="0D2137"/>
          </a:solidFill>
          <a:ln/>
        </p:spPr>
      </p:sp>
      <p:sp>
        <p:nvSpPr>
          <p:cNvPr id="28" name="Text 26"/>
          <p:cNvSpPr/>
          <p:nvPr/>
        </p:nvSpPr>
        <p:spPr>
          <a:xfrm>
            <a:off x="365760" y="3803904"/>
            <a:ext cx="3986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📐 IMU BNO055 9-Axis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65760" y="4151376"/>
            <a:ext cx="398678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 + Gyro + Barometer via I²C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Fuses with LiDAR for robust odometry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18304" y="3785616"/>
            <a:ext cx="42062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718304" y="3785616"/>
            <a:ext cx="4206240" cy="329184"/>
          </a:xfrm>
          <a:prstGeom prst="roundRect">
            <a:avLst>
              <a:gd name="adj" fmla="val 22222"/>
            </a:avLst>
          </a:prstGeom>
          <a:solidFill>
            <a:srgbClr val="0D2137"/>
          </a:solidFill>
          <a:ln/>
        </p:spPr>
      </p:sp>
      <p:sp>
        <p:nvSpPr>
          <p:cNvPr id="32" name="Shape 30"/>
          <p:cNvSpPr/>
          <p:nvPr/>
        </p:nvSpPr>
        <p:spPr>
          <a:xfrm>
            <a:off x="4718304" y="3950208"/>
            <a:ext cx="4206240" cy="164592"/>
          </a:xfrm>
          <a:prstGeom prst="rect">
            <a:avLst/>
          </a:prstGeom>
          <a:solidFill>
            <a:srgbClr val="0D2137"/>
          </a:solidFill>
          <a:ln/>
        </p:spPr>
      </p:sp>
      <p:sp>
        <p:nvSpPr>
          <p:cNvPr id="33" name="Text 31"/>
          <p:cNvSpPr/>
          <p:nvPr/>
        </p:nvSpPr>
        <p:spPr>
          <a:xfrm>
            <a:off x="4828032" y="3803904"/>
            <a:ext cx="3986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Drive Four-Motor + Caterpillar Tracks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828032" y="4151376"/>
            <a:ext cx="398678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actuators per track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Aluminum extrusion frame, ballast-ready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Dual-Mode LiDAR Pipeline — 2D Linear + 3D Conical Fusion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114800" cy="2286000"/>
          </a:xfrm>
          <a:prstGeom prst="roundRect">
            <a:avLst>
              <a:gd name="adj" fmla="val 4000"/>
            </a:avLst>
          </a:prstGeom>
          <a:solidFill>
            <a:srgbClr val="1B3A5C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84048" y="877824"/>
            <a:ext cx="38953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 1 — LINEAR (0° Lock)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84048" y="1316736"/>
            <a:ext cx="3895344" cy="17007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LiDAR tilted to 0° — scans flat plane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exact track geometry cross-section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rail gap, crack, misalignment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traverse mode (robot moving)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2D distance/angle array via CAN Bus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754880" y="804672"/>
            <a:ext cx="4114800" cy="2286000"/>
          </a:xfrm>
          <a:prstGeom prst="roundRect">
            <a:avLst>
              <a:gd name="adj" fmla="val 4000"/>
            </a:avLst>
          </a:prstGeom>
          <a:solidFill>
            <a:srgbClr val="00A896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864608" y="877824"/>
            <a:ext cx="38953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 2 — CONICAL (30° Lock)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864608" y="1316736"/>
            <a:ext cx="3895344" cy="17007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LiDAR tilts 30° + 360° NEMA-17 rotation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rotation = 1 horizontal slice of 3D cone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Slices stacked → full 3D point cloud .pcd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Stopped-robot deep-scan mode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1.84M points proven in 145 seconds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" y="3218688"/>
            <a:ext cx="8595360" cy="1572768"/>
          </a:xfrm>
          <a:prstGeom prst="roundRect">
            <a:avLst>
              <a:gd name="adj" fmla="val 5814"/>
            </a:avLst>
          </a:prstGeom>
          <a:solidFill>
            <a:srgbClr val="0A1628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11480" y="3291840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JETSON NANO SENSOR FUSION PIPELINE  (CAN Bus Architecture)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11480" y="3675888"/>
            <a:ext cx="1097280" cy="804672"/>
          </a:xfrm>
          <a:prstGeom prst="roundRect">
            <a:avLst>
              <a:gd name="adj" fmla="val 7955"/>
            </a:avLst>
          </a:prstGeom>
          <a:solidFill>
            <a:srgbClr val="1B3A5C"/>
          </a:solidFill>
          <a:ln/>
        </p:spPr>
      </p:sp>
      <p:sp>
        <p:nvSpPr>
          <p:cNvPr id="13" name="Text 11"/>
          <p:cNvSpPr/>
          <p:nvPr/>
        </p:nvSpPr>
        <p:spPr>
          <a:xfrm>
            <a:off x="411480" y="3675888"/>
            <a:ext cx="1097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LiDAR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(dist/angle)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527048" y="3858768"/>
            <a:ext cx="91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1508760" y="4078224"/>
            <a:ext cx="109728" cy="0"/>
          </a:xfrm>
          <a:prstGeom prst="line">
            <a:avLst/>
          </a:prstGeom>
          <a:noFill/>
          <a:ln w="19050">
            <a:solidFill>
              <a:srgbClr val="F59E0B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1636776" y="3675888"/>
            <a:ext cx="1097280" cy="804672"/>
          </a:xfrm>
          <a:prstGeom prst="roundRect">
            <a:avLst>
              <a:gd name="adj" fmla="val 7955"/>
            </a:avLst>
          </a:prstGeom>
          <a:solidFill>
            <a:srgbClr val="1B3A5C"/>
          </a:solidFill>
          <a:ln/>
        </p:spPr>
      </p:sp>
      <p:sp>
        <p:nvSpPr>
          <p:cNvPr id="17" name="Text 15"/>
          <p:cNvSpPr/>
          <p:nvPr/>
        </p:nvSpPr>
        <p:spPr>
          <a:xfrm>
            <a:off x="1636776" y="3675888"/>
            <a:ext cx="1097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360° Servo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752344" y="3858768"/>
            <a:ext cx="91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2734056" y="4078224"/>
            <a:ext cx="109728" cy="0"/>
          </a:xfrm>
          <a:prstGeom prst="line">
            <a:avLst/>
          </a:prstGeom>
          <a:noFill/>
          <a:ln w="19050">
            <a:solidFill>
              <a:srgbClr val="F59E0B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2862072" y="3675888"/>
            <a:ext cx="1097280" cy="804672"/>
          </a:xfrm>
          <a:prstGeom prst="roundRect">
            <a:avLst>
              <a:gd name="adj" fmla="val 7955"/>
            </a:avLst>
          </a:prstGeom>
          <a:solidFill>
            <a:srgbClr val="1B3A5C"/>
          </a:solidFill>
          <a:ln/>
        </p:spPr>
      </p:sp>
      <p:sp>
        <p:nvSpPr>
          <p:cNvPr id="21" name="Text 19"/>
          <p:cNvSpPr/>
          <p:nvPr/>
        </p:nvSpPr>
        <p:spPr>
          <a:xfrm>
            <a:off x="2862072" y="3675888"/>
            <a:ext cx="1097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Binocular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977640" y="3858768"/>
            <a:ext cx="91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I²C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959352" y="4078224"/>
            <a:ext cx="109728" cy="0"/>
          </a:xfrm>
          <a:prstGeom prst="line">
            <a:avLst/>
          </a:prstGeom>
          <a:noFill/>
          <a:ln w="19050">
            <a:solidFill>
              <a:srgbClr val="F59E0B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4087368" y="3675888"/>
            <a:ext cx="1097280" cy="804672"/>
          </a:xfrm>
          <a:prstGeom prst="roundRect">
            <a:avLst>
              <a:gd name="adj" fmla="val 7955"/>
            </a:avLst>
          </a:prstGeom>
          <a:solidFill>
            <a:srgbClr val="00A896"/>
          </a:solidFill>
          <a:ln/>
        </p:spPr>
      </p:sp>
      <p:sp>
        <p:nvSpPr>
          <p:cNvPr id="25" name="Text 23"/>
          <p:cNvSpPr/>
          <p:nvPr/>
        </p:nvSpPr>
        <p:spPr>
          <a:xfrm>
            <a:off x="4087368" y="3675888"/>
            <a:ext cx="1097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JETSON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NANO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312664" y="3675888"/>
            <a:ext cx="1097280" cy="804672"/>
          </a:xfrm>
          <a:prstGeom prst="roundRect">
            <a:avLst>
              <a:gd name="adj" fmla="val 7955"/>
            </a:avLst>
          </a:prstGeom>
          <a:solidFill>
            <a:srgbClr val="1B3A5C"/>
          </a:solidFill>
          <a:ln/>
        </p:spPr>
      </p:sp>
      <p:sp>
        <p:nvSpPr>
          <p:cNvPr id="27" name="Text 25"/>
          <p:cNvSpPr/>
          <p:nvPr/>
        </p:nvSpPr>
        <p:spPr>
          <a:xfrm>
            <a:off x="5312664" y="3675888"/>
            <a:ext cx="1097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9-Axis IMU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BNO055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428232" y="3858768"/>
            <a:ext cx="91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I²C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6409944" y="4078224"/>
            <a:ext cx="109728" cy="0"/>
          </a:xfrm>
          <a:prstGeom prst="line">
            <a:avLst/>
          </a:prstGeom>
          <a:noFill/>
          <a:ln w="19050">
            <a:solidFill>
              <a:srgbClr val="F59E0B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537960" y="3675888"/>
            <a:ext cx="1097280" cy="804672"/>
          </a:xfrm>
          <a:prstGeom prst="roundRect">
            <a:avLst>
              <a:gd name="adj" fmla="val 7955"/>
            </a:avLst>
          </a:prstGeom>
          <a:solidFill>
            <a:srgbClr val="1B3A5C"/>
          </a:solidFill>
          <a:ln/>
        </p:spPr>
      </p:sp>
      <p:sp>
        <p:nvSpPr>
          <p:cNvPr id="31" name="Text 29"/>
          <p:cNvSpPr/>
          <p:nvPr/>
        </p:nvSpPr>
        <p:spPr>
          <a:xfrm>
            <a:off x="6537960" y="3675888"/>
            <a:ext cx="1097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Driver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Actuators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653528" y="3858768"/>
            <a:ext cx="91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I²C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635240" y="4078224"/>
            <a:ext cx="109728" cy="0"/>
          </a:xfrm>
          <a:prstGeom prst="line">
            <a:avLst/>
          </a:prstGeom>
          <a:noFill/>
          <a:ln w="19050">
            <a:solidFill>
              <a:srgbClr val="F59E0B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7763256" y="3675888"/>
            <a:ext cx="1097280" cy="804672"/>
          </a:xfrm>
          <a:prstGeom prst="roundRect">
            <a:avLst>
              <a:gd name="adj" fmla="val 7955"/>
            </a:avLst>
          </a:prstGeom>
          <a:solidFill>
            <a:srgbClr val="8B4513"/>
          </a:solidFill>
          <a:ln/>
        </p:spPr>
      </p:sp>
      <p:sp>
        <p:nvSpPr>
          <p:cNvPr id="35" name="Text 33"/>
          <p:cNvSpPr/>
          <p:nvPr/>
        </p:nvSpPr>
        <p:spPr>
          <a:xfrm>
            <a:off x="7763256" y="3675888"/>
            <a:ext cx="1097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.pcd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Layer 3 — Smart Sensor Network &amp; Emergency Systems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530352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22960"/>
            <a:ext cx="5303520" cy="347472"/>
          </a:xfrm>
          <a:prstGeom prst="roundRect">
            <a:avLst>
              <a:gd name="adj" fmla="val 23684"/>
            </a:avLst>
          </a:prstGeom>
          <a:solidFill>
            <a:srgbClr val="0D2137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1005840"/>
            <a:ext cx="5303520" cy="164592"/>
          </a:xfrm>
          <a:prstGeom prst="rect">
            <a:avLst/>
          </a:prstGeom>
          <a:solidFill>
            <a:srgbClr val="0D2137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4124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Pressure / Vibration Sensors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225296"/>
            <a:ext cx="5074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Piezoelectric sensors embedded every 500m along tracks. Detects unusual vibrations — derailment, object on track — and triggers emergency braking signal within 200ms.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74320" y="2212848"/>
            <a:ext cx="530352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2212848"/>
            <a:ext cx="5303520" cy="347472"/>
          </a:xfrm>
          <a:prstGeom prst="roundRect">
            <a:avLst>
              <a:gd name="adj" fmla="val 23684"/>
            </a:avLst>
          </a:prstGeom>
          <a:solidFill>
            <a:srgbClr val="0D2137"/>
          </a:solidFill>
          <a:ln/>
        </p:spPr>
      </p:sp>
      <p:sp>
        <p:nvSpPr>
          <p:cNvPr id="11" name="Shape 9"/>
          <p:cNvSpPr/>
          <p:nvPr/>
        </p:nvSpPr>
        <p:spPr>
          <a:xfrm>
            <a:off x="274320" y="2395728"/>
            <a:ext cx="5303520" cy="164592"/>
          </a:xfrm>
          <a:prstGeom prst="rect">
            <a:avLst/>
          </a:prstGeom>
          <a:solidFill>
            <a:srgbClr val="0D2137"/>
          </a:solidFill>
          <a:ln/>
        </p:spPr>
      </p:sp>
      <p:sp>
        <p:nvSpPr>
          <p:cNvPr id="12" name="Text 10"/>
          <p:cNvSpPr/>
          <p:nvPr/>
        </p:nvSpPr>
        <p:spPr>
          <a:xfrm>
            <a:off x="411480" y="2231136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Feedback Loops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11480" y="2615184"/>
            <a:ext cx="5074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PTZ cameras at junctions &amp; stations stream to edge-AI box running YOLOv8. Detects trespassers, obstacle intrusion, crowd overflow.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74320" y="3602736"/>
            <a:ext cx="530352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74320" y="3602736"/>
            <a:ext cx="5303520" cy="347472"/>
          </a:xfrm>
          <a:prstGeom prst="roundRect">
            <a:avLst>
              <a:gd name="adj" fmla="val 23684"/>
            </a:avLst>
          </a:prstGeom>
          <a:solidFill>
            <a:srgbClr val="0D2137"/>
          </a:solidFill>
          <a:ln/>
        </p:spPr>
      </p:sp>
      <p:sp>
        <p:nvSpPr>
          <p:cNvPr id="16" name="Shape 14"/>
          <p:cNvSpPr/>
          <p:nvPr/>
        </p:nvSpPr>
        <p:spPr>
          <a:xfrm>
            <a:off x="274320" y="3785616"/>
            <a:ext cx="5303520" cy="164592"/>
          </a:xfrm>
          <a:prstGeom prst="rect">
            <a:avLst/>
          </a:prstGeom>
          <a:solidFill>
            <a:srgbClr val="0D2137"/>
          </a:solidFill>
          <a:ln/>
        </p:spPr>
      </p:sp>
      <p:sp>
        <p:nvSpPr>
          <p:cNvPr id="17" name="Text 15"/>
          <p:cNvSpPr/>
          <p:nvPr/>
        </p:nvSpPr>
        <p:spPr>
          <a:xfrm>
            <a:off x="411480" y="3621024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Rail Stopper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5074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Electromagnetic rail-clamp actuated by sensor network or manual override. Certified fail-safe: power-off defaults to engaged.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806440" y="822960"/>
            <a:ext cx="3017520" cy="4206240"/>
          </a:xfrm>
          <a:prstGeom prst="roundRect">
            <a:avLst>
              <a:gd name="adj" fmla="val 3636"/>
            </a:avLst>
          </a:prstGeom>
          <a:solidFill>
            <a:srgbClr val="0A1628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943600" y="89611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PCB DESIGN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943600" y="1298448"/>
            <a:ext cx="2743200" cy="3520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MCU: STM32F103C8T6 (Blue Pill)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ADC: ADS1115 16-bit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LoRa: SX1278 module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Power: AMS1117 3.3V regulator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MOSFET relay: IRF540N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PCB: 2-layer 5V/3.3V rails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KiCad schematic + Gerbers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EasyEDA for verification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System Architecture — Hardware-Accurate Block Diagram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274320" y="749808"/>
            <a:ext cx="8595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your actual robot design: Jetson Nano main hub, CAN Bus for LiDAR/servo, I²C for sensors, LoRa for telemetry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256032" y="1170432"/>
            <a:ext cx="4434840" cy="3611880"/>
          </a:xfrm>
          <a:prstGeom prst="roundRect">
            <a:avLst>
              <a:gd name="adj" fmla="val 3038"/>
            </a:avLst>
          </a:prstGeom>
          <a:solidFill>
            <a:srgbClr val="F8FAFC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56032" y="1170432"/>
            <a:ext cx="4434840" cy="347472"/>
          </a:xfrm>
          <a:prstGeom prst="roundRect">
            <a:avLst>
              <a:gd name="adj" fmla="val 31579"/>
            </a:avLst>
          </a:prstGeom>
          <a:solidFill>
            <a:srgbClr val="1B3A5C"/>
          </a:solidFill>
          <a:ln/>
        </p:spPr>
      </p:sp>
      <p:sp>
        <p:nvSpPr>
          <p:cNvPr id="7" name="Shape 5"/>
          <p:cNvSpPr/>
          <p:nvPr/>
        </p:nvSpPr>
        <p:spPr>
          <a:xfrm>
            <a:off x="256032" y="1353312"/>
            <a:ext cx="4434840" cy="164592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1188720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 AUTONOMOUS ROBOT  (Jetson Nano)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11480" y="1627632"/>
            <a:ext cx="1828800" cy="621792"/>
          </a:xfrm>
          <a:prstGeom prst="roundRect">
            <a:avLst>
              <a:gd name="adj" fmla="val 10294"/>
            </a:avLst>
          </a:prstGeom>
          <a:solidFill>
            <a:srgbClr val="00A896"/>
          </a:solidFill>
          <a:ln/>
        </p:spPr>
      </p:sp>
      <p:sp>
        <p:nvSpPr>
          <p:cNvPr id="10" name="Text 8"/>
          <p:cNvSpPr/>
          <p:nvPr/>
        </p:nvSpPr>
        <p:spPr>
          <a:xfrm>
            <a:off x="411480" y="1627632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RPLiDAR A2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Dual-Mode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377440" y="1627632"/>
            <a:ext cx="2011680" cy="621792"/>
          </a:xfrm>
          <a:prstGeom prst="roundRect">
            <a:avLst>
              <a:gd name="adj" fmla="val 10294"/>
            </a:avLst>
          </a:prstGeom>
          <a:solidFill>
            <a:srgbClr val="1B3A5C"/>
          </a:solidFill>
          <a:ln/>
        </p:spPr>
      </p:sp>
      <p:sp>
        <p:nvSpPr>
          <p:cNvPr id="12" name="Text 10"/>
          <p:cNvSpPr/>
          <p:nvPr/>
        </p:nvSpPr>
        <p:spPr>
          <a:xfrm>
            <a:off x="2377440" y="1627632"/>
            <a:ext cx="2011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NEMA-17 Servo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360° Z-Axis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11480" y="2340864"/>
            <a:ext cx="1828800" cy="621792"/>
          </a:xfrm>
          <a:prstGeom prst="roundRect">
            <a:avLst>
              <a:gd name="adj" fmla="val 10294"/>
            </a:avLst>
          </a:prstGeom>
          <a:solidFill>
            <a:srgbClr val="1B3A5C"/>
          </a:solidFill>
          <a:ln/>
        </p:spPr>
      </p:sp>
      <p:sp>
        <p:nvSpPr>
          <p:cNvPr id="14" name="Text 12"/>
          <p:cNvSpPr/>
          <p:nvPr/>
        </p:nvSpPr>
        <p:spPr>
          <a:xfrm>
            <a:off x="411480" y="2340864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Binocular Cam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Stereo SLAM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377440" y="2340864"/>
            <a:ext cx="2011680" cy="621792"/>
          </a:xfrm>
          <a:prstGeom prst="roundRect">
            <a:avLst>
              <a:gd name="adj" fmla="val 10294"/>
            </a:avLst>
          </a:prstGeom>
          <a:solidFill>
            <a:srgbClr val="0D2137"/>
          </a:solidFill>
          <a:ln/>
        </p:spPr>
      </p:sp>
      <p:sp>
        <p:nvSpPr>
          <p:cNvPr id="16" name="Text 14"/>
          <p:cNvSpPr/>
          <p:nvPr/>
        </p:nvSpPr>
        <p:spPr>
          <a:xfrm>
            <a:off x="2377440" y="2340864"/>
            <a:ext cx="2011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BNO055 IMU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9-Axis Fusion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11480" y="3054096"/>
            <a:ext cx="1828800" cy="621792"/>
          </a:xfrm>
          <a:prstGeom prst="roundRect">
            <a:avLst>
              <a:gd name="adj" fmla="val 10294"/>
            </a:avLst>
          </a:prstGeom>
          <a:solidFill>
            <a:srgbClr val="0D2137"/>
          </a:solidFill>
          <a:ln/>
        </p:spPr>
      </p:sp>
      <p:sp>
        <p:nvSpPr>
          <p:cNvPr id="18" name="Text 16"/>
          <p:cNvSpPr/>
          <p:nvPr/>
        </p:nvSpPr>
        <p:spPr>
          <a:xfrm>
            <a:off x="411480" y="3054096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4-Motor Drive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Caterpillar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377440" y="3054096"/>
            <a:ext cx="2011680" cy="621792"/>
          </a:xfrm>
          <a:prstGeom prst="roundRect">
            <a:avLst>
              <a:gd name="adj" fmla="val 10294"/>
            </a:avLst>
          </a:prstGeom>
          <a:solidFill>
            <a:srgbClr val="8B4513"/>
          </a:solidFill>
          <a:ln/>
        </p:spPr>
      </p:sp>
      <p:sp>
        <p:nvSpPr>
          <p:cNvPr id="20" name="Text 18"/>
          <p:cNvSpPr/>
          <p:nvPr/>
        </p:nvSpPr>
        <p:spPr>
          <a:xfrm>
            <a:off x="2377440" y="3054096"/>
            <a:ext cx="2011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.pcd Output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1.84M pts/scan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11480" y="3767328"/>
            <a:ext cx="3977640" cy="658368"/>
          </a:xfrm>
          <a:prstGeom prst="roundRect">
            <a:avLst>
              <a:gd name="adj" fmla="val 9722"/>
            </a:avLst>
          </a:prstGeom>
          <a:solidFill>
            <a:srgbClr val="00A896"/>
          </a:solidFill>
          <a:ln/>
        </p:spPr>
      </p:sp>
      <p:sp>
        <p:nvSpPr>
          <p:cNvPr id="22" name="Text 20"/>
          <p:cNvSpPr/>
          <p:nvPr/>
        </p:nvSpPr>
        <p:spPr>
          <a:xfrm>
            <a:off x="411480" y="3767328"/>
            <a:ext cx="3977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 JETSON NANO  —  Main CPU/GPU  —  CAN Bus + I²C Hub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937760" y="1170432"/>
            <a:ext cx="3913632" cy="3611880"/>
          </a:xfrm>
          <a:prstGeom prst="roundRect">
            <a:avLst>
              <a:gd name="adj" fmla="val 3038"/>
            </a:avLst>
          </a:prstGeom>
          <a:solidFill>
            <a:srgbClr val="F8FAFC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937760" y="1170432"/>
            <a:ext cx="3913632" cy="347472"/>
          </a:xfrm>
          <a:prstGeom prst="roundRect">
            <a:avLst>
              <a:gd name="adj" fmla="val 31579"/>
            </a:avLst>
          </a:prstGeom>
          <a:solidFill>
            <a:srgbClr val="00A896"/>
          </a:solidFill>
          <a:ln/>
        </p:spPr>
      </p:sp>
      <p:sp>
        <p:nvSpPr>
          <p:cNvPr id="25" name="Shape 23"/>
          <p:cNvSpPr/>
          <p:nvPr/>
        </p:nvSpPr>
        <p:spPr>
          <a:xfrm>
            <a:off x="4937760" y="1353312"/>
            <a:ext cx="3913632" cy="164592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6" name="Text 24"/>
          <p:cNvSpPr/>
          <p:nvPr/>
        </p:nvSpPr>
        <p:spPr>
          <a:xfrm>
            <a:off x="5047488" y="1188720"/>
            <a:ext cx="36941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☁️  CLOUD + CITIZEN LAYER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084064" y="1627632"/>
            <a:ext cx="3621024" cy="594360"/>
          </a:xfrm>
          <a:prstGeom prst="roundRect">
            <a:avLst>
              <a:gd name="adj" fmla="val 10769"/>
            </a:avLst>
          </a:prstGeom>
          <a:solidFill>
            <a:srgbClr val="00A896"/>
          </a:solidFill>
          <a:ln/>
        </p:spPr>
      </p:sp>
      <p:sp>
        <p:nvSpPr>
          <p:cNvPr id="28" name="Text 26"/>
          <p:cNvSpPr/>
          <p:nvPr/>
        </p:nvSpPr>
        <p:spPr>
          <a:xfrm>
            <a:off x="5084064" y="1627632"/>
            <a:ext cx="36210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Server + PostgreSQL + PostGIS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84064" y="2304288"/>
            <a:ext cx="3621024" cy="594360"/>
          </a:xfrm>
          <a:prstGeom prst="roundRect">
            <a:avLst>
              <a:gd name="adj" fmla="val 10769"/>
            </a:avLst>
          </a:prstGeom>
          <a:solidFill>
            <a:srgbClr val="1B3A5C"/>
          </a:solidFill>
          <a:ln/>
        </p:spPr>
      </p:sp>
      <p:sp>
        <p:nvSpPr>
          <p:cNvPr id="30" name="Text 28"/>
          <p:cNvSpPr/>
          <p:nvPr/>
        </p:nvSpPr>
        <p:spPr>
          <a:xfrm>
            <a:off x="5084064" y="2304288"/>
            <a:ext cx="36210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PWA Citizen App (Hazard Report + Map)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084064" y="2980944"/>
            <a:ext cx="3621024" cy="594360"/>
          </a:xfrm>
          <a:prstGeom prst="roundRect">
            <a:avLst>
              <a:gd name="adj" fmla="val 10769"/>
            </a:avLst>
          </a:prstGeom>
          <a:solidFill>
            <a:srgbClr val="0D2137"/>
          </a:solidFill>
          <a:ln/>
        </p:spPr>
      </p:sp>
      <p:sp>
        <p:nvSpPr>
          <p:cNvPr id="32" name="Text 30"/>
          <p:cNvSpPr/>
          <p:nvPr/>
        </p:nvSpPr>
        <p:spPr>
          <a:xfrm>
            <a:off x="5084064" y="2980944"/>
            <a:ext cx="36210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 Track Fault Classifier (range image)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084064" y="3657600"/>
            <a:ext cx="3621024" cy="594360"/>
          </a:xfrm>
          <a:prstGeom prst="roundRect">
            <a:avLst>
              <a:gd name="adj" fmla="val 10769"/>
            </a:avLst>
          </a:prstGeom>
          <a:solidFill>
            <a:srgbClr val="1B3A5C"/>
          </a:solidFill>
          <a:ln/>
        </p:spPr>
      </p:sp>
      <p:sp>
        <p:nvSpPr>
          <p:cNvPr id="34" name="Text 32"/>
          <p:cNvSpPr/>
          <p:nvPr/>
        </p:nvSpPr>
        <p:spPr>
          <a:xfrm>
            <a:off x="5084064" y="3657600"/>
            <a:ext cx="36210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Dashboard + Alert Engine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084064" y="4334256"/>
            <a:ext cx="3621024" cy="438912"/>
          </a:xfrm>
          <a:prstGeom prst="roundRect">
            <a:avLst>
              <a:gd name="adj" fmla="val 14583"/>
            </a:avLst>
          </a:prstGeom>
          <a:solidFill>
            <a:srgbClr val="8B4513"/>
          </a:solidFill>
          <a:ln/>
        </p:spPr>
      </p:sp>
      <p:sp>
        <p:nvSpPr>
          <p:cNvPr id="36" name="Text 34"/>
          <p:cNvSpPr/>
          <p:nvPr/>
        </p:nvSpPr>
        <p:spPr>
          <a:xfrm>
            <a:off x="5084064" y="4334256"/>
            <a:ext cx="36210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STM32 Sensor Nodes — LoRa → Gateway → API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718304" y="2980944"/>
            <a:ext cx="201168" cy="0"/>
          </a:xfrm>
          <a:prstGeom prst="line">
            <a:avLst/>
          </a:prstGeom>
          <a:noFill/>
          <a:ln w="31750">
            <a:solidFill>
              <a:srgbClr val="F59E0B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4690872" y="2834640"/>
            <a:ext cx="256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+WiFi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GitHub Repository Structure &amp; Submission Guide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Repo: github.com/[yourname]/trackguard-ai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188720"/>
            <a:ext cx="2743200" cy="36576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188720"/>
            <a:ext cx="2743200" cy="347472"/>
          </a:xfrm>
          <a:prstGeom prst="roundRect">
            <a:avLst>
              <a:gd name="adj" fmla="val 21053"/>
            </a:avLst>
          </a:prstGeom>
          <a:solidFill>
            <a:srgbClr val="0D2137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371600"/>
            <a:ext cx="2743200" cy="164592"/>
          </a:xfrm>
          <a:prstGeom prst="rect">
            <a:avLst/>
          </a:prstGeom>
          <a:solidFill>
            <a:srgbClr val="0D2137"/>
          </a:solidFill>
          <a:ln/>
        </p:spPr>
      </p:sp>
      <p:sp>
        <p:nvSpPr>
          <p:cNvPr id="8" name="Text 6"/>
          <p:cNvSpPr/>
          <p:nvPr/>
        </p:nvSpPr>
        <p:spPr>
          <a:xfrm>
            <a:off x="384048" y="1207008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📁 Repo Folders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2514600" cy="3182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/app — React PWA frontend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/backend — FastAPI server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/robot — RPi firmware (Python)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/arduino — STM32 sensor code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/pcb — KiCad schematic + Gerbers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/cad — Robot chassis STL files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/docs — Report, diagrams, BOM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/demo — Screenshots, video link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18688" y="1188720"/>
            <a:ext cx="2743200" cy="36576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18688" y="1188720"/>
            <a:ext cx="2743200" cy="347472"/>
          </a:xfrm>
          <a:prstGeom prst="roundRect">
            <a:avLst>
              <a:gd name="adj" fmla="val 21053"/>
            </a:avLst>
          </a:prstGeom>
          <a:solidFill>
            <a:srgbClr val="1B3A5C"/>
          </a:solidFill>
          <a:ln/>
        </p:spPr>
      </p:sp>
      <p:sp>
        <p:nvSpPr>
          <p:cNvPr id="12" name="Shape 10"/>
          <p:cNvSpPr/>
          <p:nvPr/>
        </p:nvSpPr>
        <p:spPr>
          <a:xfrm>
            <a:off x="3218688" y="1371600"/>
            <a:ext cx="2743200" cy="164592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3" name="Text 11"/>
          <p:cNvSpPr/>
          <p:nvPr/>
        </p:nvSpPr>
        <p:spPr>
          <a:xfrm>
            <a:off x="3328416" y="1207008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Required Files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355848" y="1591056"/>
            <a:ext cx="2514600" cy="3182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README.md (full setup guide)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requirements.txt / package.json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 (MIT)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ARCHITECTURE.md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BOM.csv (Bill of Materials)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.gitignore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demo/VIDEO_LINK.txt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docs/circuit_diagram.png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63056" y="1188720"/>
            <a:ext cx="2743200" cy="36576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63056" y="1188720"/>
            <a:ext cx="2743200" cy="347472"/>
          </a:xfrm>
          <a:prstGeom prst="roundRect">
            <a:avLst>
              <a:gd name="adj" fmla="val 21053"/>
            </a:avLst>
          </a:prstGeom>
          <a:solidFill>
            <a:srgbClr val="00A896"/>
          </a:solidFill>
          <a:ln/>
        </p:spPr>
      </p:sp>
      <p:sp>
        <p:nvSpPr>
          <p:cNvPr id="17" name="Shape 15"/>
          <p:cNvSpPr/>
          <p:nvPr/>
        </p:nvSpPr>
        <p:spPr>
          <a:xfrm>
            <a:off x="6163056" y="1371600"/>
            <a:ext cx="2743200" cy="164592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6"/>
          <p:cNvSpPr/>
          <p:nvPr/>
        </p:nvSpPr>
        <p:spPr>
          <a:xfrm>
            <a:off x="6272784" y="1207008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FAR AWAY Rules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00216" y="1591056"/>
            <a:ext cx="2514600" cy="3182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GitHub repo with source code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15-slide presentation (this deck)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Problem→Solution→Demo flow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PCB design files (KiCad)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CAD files for robot chassis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Real prototype (encouraged)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Setup instructions in README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Commit history visible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PCB Design &amp; Bill of Materials (BOM)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custom PCBs: (1) Sensor Node Board  (2) Robot Controller Hat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207008"/>
          <a:ext cx="8595360" cy="3566160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Approx Cost (₹)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Raspberry Pi 4B (4GB)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 AI compute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₹6,500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Arduino Mega 2560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Motor + sensor ctrl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₹900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RPLiDAR A2M8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2D LiDAR scanner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₹8,000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STM32F103C8T6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Sensor node MCU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₹120×2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OV5647 Camera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Visual inspection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₹700×2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SX1278 LoRa Module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Long-range comms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₹350×3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4S LiPo 5000mAh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Robot power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₹2,200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L298N Motor Driver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Caterpillar drive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₹150×2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Piezo Vibration Sensor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Track sensing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₹40×10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ADS1115 ADC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16-bit sensor read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₹180×2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IRF540N MOSFET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Relay/actuator ctrl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₹25×4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Misc (PCB, wire, nuts)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Hardware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₹1,500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4809744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ESTIMATED PROTOTYPE COST: ₹ ~23,000  •  Tool: KiCad 6 + EasyEDA  •  Fab: JLCPCB (5 boards ~₹800)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omo v">
            <a:hlinkClick r:id="" action="ppaction://media"/>
            <a:extLst>
              <a:ext uri="{FF2B5EF4-FFF2-40B4-BE49-F238E27FC236}">
                <a16:creationId xmlns:a16="http://schemas.microsoft.com/office/drawing/2014/main" id="{A26FB13E-C10F-0E08-6251-FB3204339ADF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82880" y="133642"/>
            <a:ext cx="8637563" cy="5009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60727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Development Roadmap &amp; Milestones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56032" y="804672"/>
            <a:ext cx="2011680" cy="4023360"/>
          </a:xfrm>
          <a:prstGeom prst="roundRect">
            <a:avLst>
              <a:gd name="adj" fmla="val 4545"/>
            </a:avLst>
          </a:prstGeom>
          <a:solidFill>
            <a:srgbClr val="00A896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47472" y="877824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1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0–2 Months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1664208"/>
            <a:ext cx="1792224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 App MVP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 reporting live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map for 3 stations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API deployed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432304" y="804672"/>
            <a:ext cx="2011680" cy="4023360"/>
          </a:xfrm>
          <a:prstGeom prst="roundRect">
            <a:avLst>
              <a:gd name="adj" fmla="val 4545"/>
            </a:avLst>
          </a:prstGeom>
          <a:solidFill>
            <a:srgbClr val="1B3A5C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523744" y="877824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2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2–4 Months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542032" y="1664208"/>
            <a:ext cx="1792224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 chassis built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LiDAR + camera integrated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500m track test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Fault detection model v1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08576" y="804672"/>
            <a:ext cx="2011680" cy="4023360"/>
          </a:xfrm>
          <a:prstGeom prst="roundRect">
            <a:avLst>
              <a:gd name="adj" fmla="val 4545"/>
            </a:avLst>
          </a:prstGeom>
          <a:solidFill>
            <a:srgbClr val="0D2137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0016" y="877824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3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4–6 Months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718304" y="1664208"/>
            <a:ext cx="1792224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network nodes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stopper prototype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PCBs fabricated + tested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system integration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784848" y="804672"/>
            <a:ext cx="2011680" cy="4023360"/>
          </a:xfrm>
          <a:prstGeom prst="roundRect">
            <a:avLst>
              <a:gd name="adj" fmla="val 4545"/>
            </a:avLst>
          </a:prstGeom>
          <a:solidFill>
            <a:srgbClr val="F59E0B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876288" y="877824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4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6–12 Months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894576" y="1664208"/>
            <a:ext cx="1792224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Pilot: 1 railway zone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partnership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to 5 divisions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SDK release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Impact, Scale &amp; Market Opportunity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56032" y="804672"/>
            <a:ext cx="182880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56032" y="896112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68,000+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256032" y="14630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 of Indian Railways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029968" y="804672"/>
            <a:ext cx="182880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029968" y="896112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1.4B+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2029968" y="14630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Passengers per year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803904" y="804672"/>
            <a:ext cx="182880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803904" y="896112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₹1,200 Cr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3803904" y="14630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maintenance cost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577840" y="804672"/>
            <a:ext cx="182880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577840" y="896112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83%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5577840" y="14630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Accidents from track faults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351776" y="804672"/>
            <a:ext cx="182880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351776" y="896112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$4.5B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7351776" y="14630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rail safety market</a:t>
            </a:r>
            <a:endParaRPr lang="en-US" sz="1000" dirty="0"/>
          </a:p>
        </p:txBody>
      </p:sp>
      <p:graphicFrame>
        <p:nvGraphicFramePr>
          <p:cNvPr id="19" name="Chart 0"/>
          <p:cNvGraphicFramePr/>
          <p:nvPr/>
        </p:nvGraphicFramePr>
        <p:xfrm>
          <a:off x="274320" y="2176272"/>
          <a:ext cx="4206240" cy="2560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0" name="Shape 17"/>
          <p:cNvSpPr/>
          <p:nvPr/>
        </p:nvSpPr>
        <p:spPr>
          <a:xfrm>
            <a:off x="4709160" y="2176272"/>
            <a:ext cx="4114800" cy="2560320"/>
          </a:xfrm>
          <a:prstGeom prst="roundRect">
            <a:avLst>
              <a:gd name="adj" fmla="val 4286"/>
            </a:avLst>
          </a:prstGeom>
          <a:solidFill>
            <a:srgbClr val="0A1628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4846320" y="228600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EDGE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846320" y="2688336"/>
            <a:ext cx="384048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🔁 Fully autonomous — no human needed</a:t>
            </a:r>
            <a:endParaRPr lang="en-US" sz="11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📡 LoRa works without 4G coverage</a:t>
            </a:r>
            <a:endParaRPr lang="en-US" sz="11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3-layer redundancy (app + robot + sensor)</a:t>
            </a:r>
            <a:endParaRPr lang="en-US" sz="11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10× cheaper than imported rail robots</a:t>
            </a:r>
            <a:endParaRPr lang="en-US" sz="11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🇮🇳 Made-for-India: fits Indian gauge track</a:t>
            </a:r>
            <a:endParaRPr lang="en-US" sz="11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🔓 Open-source hardware + software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— What Judges Will See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85953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11480" y="859536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App Demo (Live URL)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971800" y="859536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 deployed on Vercel. Judges can scan QR to open, report a hazard, see it appear on dashboard in real-time.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74320" y="1627632"/>
            <a:ext cx="85953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11480" y="1682496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Robot Simulation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971800" y="1682496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simulation (Pygame / ROS Gazebo) showing autonomous track traversal, LiDAR sweep, and fault detection trigger.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" y="2450592"/>
            <a:ext cx="85953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11480" y="2505456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Dashboard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971800" y="2505456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portal showing open tickets, heat-map of reported hazards, sensor alert log, and analytics.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3273552"/>
            <a:ext cx="85953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11480" y="3328416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🔌 Sensor Node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971800" y="3328416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STM32 board with piezo sensor — press it to trigger a virtual emergency stop on the dashboard.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4096512"/>
            <a:ext cx="85953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11480" y="4151376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📹 Field Video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971800" y="4151376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60-second clip of robot prototype on mock track (PVC pipe rail), LiDAR spinning, fault detection alert firing.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Score on FAR AWAY Judging Criteria</a:t>
            </a:r>
            <a:endParaRPr lang="en-US" sz="20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274320" y="822960"/>
          <a:ext cx="365760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4160520" y="841248"/>
            <a:ext cx="4663440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4270248" y="896112"/>
            <a:ext cx="914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★★★★★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212080" y="896112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3-layer system + LiDAR 3D + on-device AI + LoRa mesh — none of this is off-the-shelf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4160520" y="1499616"/>
            <a:ext cx="4663440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4270248" y="1554480"/>
            <a:ext cx="914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★★★★★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212080" y="1554480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PCB (KiCad), robot chassis (CAD), real firmware, no breadboard-only prototype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160520" y="2157984"/>
            <a:ext cx="4663440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4270248" y="2212848"/>
            <a:ext cx="914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★★★★★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212080" y="221284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Solves measurable problem: 83% of rail accidents are track-related — addressable by this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4160520" y="2816352"/>
            <a:ext cx="4663440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4270248" y="2871216"/>
            <a:ext cx="914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★★★★☆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212080" y="287121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+ cloud scales without per-node SIM cost; open-source enables govt. adoption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160520" y="3474720"/>
            <a:ext cx="4663440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4270248" y="3529584"/>
            <a:ext cx="914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★★★★★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212080" y="352958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 citizen app designed for low-tech users; WCAG-compliant; Hindi/English support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4160520" y="4133088"/>
            <a:ext cx="4663440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4270248" y="4187952"/>
            <a:ext cx="914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★★★★★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212080" y="4187952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repo, working demo, PCB files, CAD, video, presentation — fully complete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691974" y="-640080"/>
            <a:ext cx="4572000" cy="4572000"/>
          </a:xfrm>
          <a:prstGeom prst="ellipse">
            <a:avLst/>
          </a:prstGeom>
          <a:solidFill>
            <a:srgbClr val="00A896">
              <a:alpha val="12000"/>
            </a:srgbClr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371600" y="2743200"/>
            <a:ext cx="3657600" cy="3657600"/>
          </a:xfrm>
          <a:prstGeom prst="ellipse">
            <a:avLst/>
          </a:prstGeom>
          <a:solidFill>
            <a:srgbClr val="1B3A5C">
              <a:alpha val="30000"/>
            </a:srgbClr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TrackGuard AI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India's Railways Safer — One Kilometer at a Time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286000" y="2423160"/>
            <a:ext cx="4572000" cy="0"/>
          </a:xfrm>
          <a:prstGeom prst="line">
            <a:avLst/>
          </a:prstGeom>
          <a:noFill/>
          <a:ln w="12700">
            <a:solidFill>
              <a:srgbClr val="00A89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578608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GitHub :https://github.com/</a:t>
            </a:r>
            <a:r>
              <a:rPr lang="en-US" sz="14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rudrakshapatra</a:t>
            </a: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en-US" sz="14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TrackGuard</a:t>
            </a: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-Railway-</a:t>
            </a:r>
            <a:r>
              <a:rPr lang="en-US" sz="14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safety.git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054096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📧 Team : TECHNTHINK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529584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🎥 Demo Video : youtu.be/</a:t>
            </a:r>
            <a:r>
              <a:rPr lang="en-US" sz="14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technthink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2976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kern="0" spc="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AWAY 2026  •  Railways Theme  •  India's Biggest International Hackathon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1698</Words>
  <Application>Microsoft Office PowerPoint</Application>
  <PresentationFormat>On-screen Show (16:9)</PresentationFormat>
  <Paragraphs>329</Paragraphs>
  <Slides>16</Slides>
  <Notes>15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TrackGuard AI — FAR AWAY 2026</dc:title>
  <dc:subject>PptxGenJS Presentation</dc:subject>
  <dc:creator>PptxGenJS</dc:creator>
  <cp:lastModifiedBy>Rudraksha Patra</cp:lastModifiedBy>
  <cp:revision>6</cp:revision>
  <dcterms:created xsi:type="dcterms:W3CDTF">2026-06-14T18:06:38Z</dcterms:created>
  <dcterms:modified xsi:type="dcterms:W3CDTF">2026-06-14T21:00:53Z</dcterms:modified>
</cp:coreProperties>
</file>